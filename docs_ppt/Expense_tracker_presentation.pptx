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67" r:id="rId6"/>
    <p:sldId id="260" r:id="rId8"/>
    <p:sldId id="261" r:id="rId9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6524625"/>
            <a:ext cx="180975" cy="1619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6572251"/>
            <a:ext cx="247650" cy="10477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0100" y="6572251"/>
            <a:ext cx="123825" cy="10477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500" y="6524625"/>
            <a:ext cx="381000" cy="16192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772275"/>
            <a:ext cx="12191999" cy="85722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0725150" y="161925"/>
            <a:ext cx="1247775" cy="581025"/>
          </a:xfrm>
          <a:custGeom>
            <a:avLst/>
            <a:gdLst/>
            <a:ahLst/>
            <a:cxnLst/>
            <a:rect l="l" t="t" r="r" b="b"/>
            <a:pathLst>
              <a:path w="1247775" h="581025">
                <a:moveTo>
                  <a:pt x="1247775" y="0"/>
                </a:moveTo>
                <a:lnTo>
                  <a:pt x="0" y="0"/>
                </a:lnTo>
                <a:lnTo>
                  <a:pt x="0" y="581025"/>
                </a:lnTo>
                <a:lnTo>
                  <a:pt x="1247775" y="581025"/>
                </a:lnTo>
                <a:lnTo>
                  <a:pt x="1247775" y="0"/>
                </a:lnTo>
                <a:close/>
              </a:path>
            </a:pathLst>
          </a:custGeom>
          <a:solidFill>
            <a:srgbClr val="034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729976" y="166751"/>
            <a:ext cx="1247775" cy="581025"/>
          </a:xfrm>
          <a:custGeom>
            <a:avLst/>
            <a:gdLst/>
            <a:ahLst/>
            <a:cxnLst/>
            <a:rect l="l" t="t" r="r" b="b"/>
            <a:pathLst>
              <a:path w="1247775" h="581025">
                <a:moveTo>
                  <a:pt x="0" y="581025"/>
                </a:moveTo>
                <a:lnTo>
                  <a:pt x="1247775" y="581025"/>
                </a:lnTo>
                <a:lnTo>
                  <a:pt x="1247775" y="0"/>
                </a:lnTo>
                <a:lnTo>
                  <a:pt x="0" y="0"/>
                </a:lnTo>
                <a:lnTo>
                  <a:pt x="0" y="581025"/>
                </a:lnTo>
                <a:close/>
              </a:path>
            </a:pathLst>
          </a:custGeom>
          <a:ln w="12700">
            <a:solidFill>
              <a:srgbClr val="0034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5600" y="2965449"/>
            <a:ext cx="1654810" cy="392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Copyright</a:t>
            </a:r>
            <a:r>
              <a:rPr spc="10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document</a:t>
            </a:r>
            <a:r>
              <a:rPr spc="25" dirty="0"/>
              <a:t> </a:t>
            </a:r>
            <a:r>
              <a:rPr spc="-10" dirty="0"/>
              <a:t>contains</a:t>
            </a:r>
            <a:r>
              <a:rPr spc="-50" dirty="0"/>
              <a:t> </a:t>
            </a:r>
            <a:r>
              <a:rPr spc="-10"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proprietary</a:t>
            </a:r>
            <a:r>
              <a:rPr spc="-5" dirty="0"/>
              <a:t> </a:t>
            </a:r>
            <a:r>
              <a:rPr spc="-10" dirty="0"/>
              <a:t>information.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Copyright</a:t>
            </a:r>
            <a:r>
              <a:rPr spc="10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document</a:t>
            </a:r>
            <a:r>
              <a:rPr spc="25" dirty="0"/>
              <a:t> </a:t>
            </a:r>
            <a:r>
              <a:rPr spc="-10" dirty="0"/>
              <a:t>contains</a:t>
            </a:r>
            <a:r>
              <a:rPr spc="-50" dirty="0"/>
              <a:t> </a:t>
            </a:r>
            <a:r>
              <a:rPr spc="-10"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proprietary</a:t>
            </a:r>
            <a:r>
              <a:rPr spc="-5" dirty="0"/>
              <a:t> </a:t>
            </a:r>
            <a:r>
              <a:rPr spc="-10" dirty="0"/>
              <a:t>information.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Copyright</a:t>
            </a:r>
            <a:r>
              <a:rPr spc="10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document</a:t>
            </a:r>
            <a:r>
              <a:rPr spc="25" dirty="0"/>
              <a:t> </a:t>
            </a:r>
            <a:r>
              <a:rPr spc="-10" dirty="0"/>
              <a:t>contains</a:t>
            </a:r>
            <a:r>
              <a:rPr spc="-50" dirty="0"/>
              <a:t> </a:t>
            </a:r>
            <a:r>
              <a:rPr spc="-10"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proprietary</a:t>
            </a:r>
            <a:r>
              <a:rPr spc="-5" dirty="0"/>
              <a:t> </a:t>
            </a:r>
            <a:r>
              <a:rPr spc="-10" dirty="0"/>
              <a:t>information.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6524625"/>
            <a:ext cx="180975" cy="1619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6572251"/>
            <a:ext cx="247650" cy="10477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0100" y="6572251"/>
            <a:ext cx="123825" cy="10477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500" y="6524625"/>
            <a:ext cx="381000" cy="16192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772275"/>
            <a:ext cx="12191999" cy="8572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98226" y="931834"/>
            <a:ext cx="9328946" cy="46323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Copyright</a:t>
            </a:r>
            <a:r>
              <a:rPr spc="10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document</a:t>
            </a:r>
            <a:r>
              <a:rPr spc="25" dirty="0"/>
              <a:t> </a:t>
            </a:r>
            <a:r>
              <a:rPr spc="-10" dirty="0"/>
              <a:t>contains</a:t>
            </a:r>
            <a:r>
              <a:rPr spc="-50" dirty="0"/>
              <a:t> </a:t>
            </a:r>
            <a:r>
              <a:rPr spc="-10"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proprietary</a:t>
            </a:r>
            <a:r>
              <a:rPr spc="-5" dirty="0"/>
              <a:t> </a:t>
            </a:r>
            <a:r>
              <a:rPr spc="-10" dirty="0"/>
              <a:t>information.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Copyright</a:t>
            </a:r>
            <a:r>
              <a:rPr spc="10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document</a:t>
            </a:r>
            <a:r>
              <a:rPr spc="25" dirty="0"/>
              <a:t> </a:t>
            </a:r>
            <a:r>
              <a:rPr spc="-10" dirty="0"/>
              <a:t>contains</a:t>
            </a:r>
            <a:r>
              <a:rPr spc="-50" dirty="0"/>
              <a:t> </a:t>
            </a:r>
            <a:r>
              <a:rPr spc="-10"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proprietary</a:t>
            </a:r>
            <a:r>
              <a:rPr spc="-5" dirty="0"/>
              <a:t> </a:t>
            </a:r>
            <a:r>
              <a:rPr spc="-10" dirty="0"/>
              <a:t>information.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3850" y="6524625"/>
            <a:ext cx="180975" cy="1619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400" y="6572251"/>
            <a:ext cx="247650" cy="10477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0100" y="6572251"/>
            <a:ext cx="123825" cy="10477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2500" y="6524625"/>
            <a:ext cx="381000" cy="16192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772275"/>
            <a:ext cx="12191999" cy="857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87" y="-58419"/>
            <a:ext cx="5855017" cy="972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5120" y="1572894"/>
            <a:ext cx="10916285" cy="3444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4000" y="6551039"/>
            <a:ext cx="5995288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Copyright</a:t>
            </a:r>
            <a:r>
              <a:rPr spc="10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document</a:t>
            </a:r>
            <a:r>
              <a:rPr spc="25" dirty="0"/>
              <a:t> </a:t>
            </a:r>
            <a:r>
              <a:rPr spc="-10" dirty="0"/>
              <a:t>contains</a:t>
            </a:r>
            <a:r>
              <a:rPr spc="-50" dirty="0"/>
              <a:t> </a:t>
            </a:r>
            <a:r>
              <a:rPr spc="-10"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proprietary</a:t>
            </a:r>
            <a:r>
              <a:rPr spc="-5" dirty="0"/>
              <a:t> </a:t>
            </a:r>
            <a:r>
              <a:rPr spc="-10" dirty="0"/>
              <a:t>information.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3359" y="6551039"/>
            <a:ext cx="18478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772275"/>
            <a:ext cx="12191999" cy="8572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723626" y="160401"/>
            <a:ext cx="1260475" cy="593725"/>
            <a:chOff x="10723626" y="160401"/>
            <a:chExt cx="1260475" cy="593725"/>
          </a:xfrm>
        </p:grpSpPr>
        <p:sp>
          <p:nvSpPr>
            <p:cNvPr id="5" name="object 5"/>
            <p:cNvSpPr/>
            <p:nvPr/>
          </p:nvSpPr>
          <p:spPr>
            <a:xfrm>
              <a:off x="10725150" y="161925"/>
              <a:ext cx="1247775" cy="581025"/>
            </a:xfrm>
            <a:custGeom>
              <a:avLst/>
              <a:gdLst/>
              <a:ahLst/>
              <a:cxnLst/>
              <a:rect l="l" t="t" r="r" b="b"/>
              <a:pathLst>
                <a:path w="1247775" h="581025">
                  <a:moveTo>
                    <a:pt x="1247775" y="0"/>
                  </a:moveTo>
                  <a:lnTo>
                    <a:pt x="0" y="0"/>
                  </a:lnTo>
                  <a:lnTo>
                    <a:pt x="0" y="581025"/>
                  </a:lnTo>
                  <a:lnTo>
                    <a:pt x="1247775" y="581025"/>
                  </a:lnTo>
                  <a:lnTo>
                    <a:pt x="1247775" y="0"/>
                  </a:lnTo>
                  <a:close/>
                </a:path>
              </a:pathLst>
            </a:custGeom>
            <a:solidFill>
              <a:srgbClr val="0348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729976" y="166751"/>
              <a:ext cx="1247775" cy="581025"/>
            </a:xfrm>
            <a:custGeom>
              <a:avLst/>
              <a:gdLst/>
              <a:ahLst/>
              <a:cxnLst/>
              <a:rect l="l" t="t" r="r" b="b"/>
              <a:pathLst>
                <a:path w="1247775" h="581025">
                  <a:moveTo>
                    <a:pt x="0" y="581025"/>
                  </a:moveTo>
                  <a:lnTo>
                    <a:pt x="1247775" y="581025"/>
                  </a:lnTo>
                  <a:lnTo>
                    <a:pt x="1247775" y="0"/>
                  </a:lnTo>
                  <a:lnTo>
                    <a:pt x="0" y="0"/>
                  </a:lnTo>
                  <a:lnTo>
                    <a:pt x="0" y="581025"/>
                  </a:lnTo>
                  <a:close/>
                </a:path>
              </a:pathLst>
            </a:custGeom>
            <a:ln w="12700">
              <a:solidFill>
                <a:srgbClr val="0034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865231" y="258209"/>
            <a:ext cx="10166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75"/>
              </a:lnSpc>
            </a:pP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DELETE </a:t>
            </a:r>
            <a:r>
              <a:rPr sz="8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REPLACE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48260">
              <a:lnSpc>
                <a:spcPts val="930"/>
              </a:lnSpc>
            </a:pP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WITHCUSTOMER’S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800" b="1" spc="-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LOGOIN</a:t>
            </a:r>
            <a:r>
              <a:rPr sz="8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SLIDEMASTER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276975"/>
            <a:ext cx="12192000" cy="581025"/>
          </a:xfrm>
          <a:custGeom>
            <a:avLst/>
            <a:gdLst/>
            <a:ahLst/>
            <a:cxnLst/>
            <a:rect l="l" t="t" r="r" b="b"/>
            <a:pathLst>
              <a:path w="12192000" h="581025">
                <a:moveTo>
                  <a:pt x="12192000" y="0"/>
                </a:moveTo>
                <a:lnTo>
                  <a:pt x="0" y="0"/>
                </a:lnTo>
                <a:lnTo>
                  <a:pt x="0" y="581025"/>
                </a:lnTo>
                <a:lnTo>
                  <a:pt x="12192000" y="5810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153791" y="5701665"/>
            <a:ext cx="58229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 panose="020B0604020202020204"/>
                <a:cs typeface="Arial" panose="020B0604020202020204"/>
              </a:rPr>
              <a:t>Digital</a:t>
            </a:r>
            <a:r>
              <a:rPr sz="1550" b="1" spc="90" dirty="0">
                <a:latin typeface="Arial" panose="020B0604020202020204"/>
                <a:cs typeface="Arial" panose="020B0604020202020204"/>
              </a:rPr>
              <a:t> </a:t>
            </a:r>
            <a:r>
              <a:rPr sz="1550" b="1" dirty="0">
                <a:latin typeface="Arial" panose="020B0604020202020204"/>
                <a:cs typeface="Arial" panose="020B0604020202020204"/>
              </a:rPr>
              <a:t>Transformation</a:t>
            </a:r>
            <a:r>
              <a:rPr sz="1550" b="1" spc="65" dirty="0">
                <a:latin typeface="Arial" panose="020B0604020202020204"/>
                <a:cs typeface="Arial" panose="020B0604020202020204"/>
              </a:rPr>
              <a:t> </a:t>
            </a:r>
            <a:r>
              <a:rPr sz="1550" b="1" dirty="0">
                <a:latin typeface="Arial" panose="020B0604020202020204"/>
                <a:cs typeface="Arial" panose="020B0604020202020204"/>
              </a:rPr>
              <a:t>|</a:t>
            </a:r>
            <a:r>
              <a:rPr sz="1550" b="1" spc="70" dirty="0">
                <a:latin typeface="Arial" panose="020B0604020202020204"/>
                <a:cs typeface="Arial" panose="020B0604020202020204"/>
              </a:rPr>
              <a:t> </a:t>
            </a:r>
            <a:r>
              <a:rPr sz="1550" b="1" dirty="0">
                <a:latin typeface="Arial" panose="020B0604020202020204"/>
                <a:cs typeface="Arial" panose="020B0604020202020204"/>
              </a:rPr>
              <a:t>Data</a:t>
            </a:r>
            <a:r>
              <a:rPr sz="1550" b="1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155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15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550" b="1" dirty="0">
                <a:latin typeface="Arial" panose="020B0604020202020204"/>
                <a:cs typeface="Arial" panose="020B0604020202020204"/>
              </a:rPr>
              <a:t>Analytics</a:t>
            </a:r>
            <a:r>
              <a:rPr sz="1550" b="1" spc="70" dirty="0">
                <a:latin typeface="Arial" panose="020B0604020202020204"/>
                <a:cs typeface="Arial" panose="020B0604020202020204"/>
              </a:rPr>
              <a:t> </a:t>
            </a:r>
            <a:r>
              <a:rPr sz="1550" b="1" dirty="0">
                <a:latin typeface="Arial" panose="020B0604020202020204"/>
                <a:cs typeface="Arial" panose="020B0604020202020204"/>
              </a:rPr>
              <a:t>|</a:t>
            </a:r>
            <a:r>
              <a:rPr sz="1550" b="1" spc="75" dirty="0">
                <a:latin typeface="Arial" panose="020B0604020202020204"/>
                <a:cs typeface="Arial" panose="020B0604020202020204"/>
              </a:rPr>
              <a:t> </a:t>
            </a:r>
            <a:r>
              <a:rPr sz="1550" b="1" dirty="0">
                <a:latin typeface="Arial" panose="020B0604020202020204"/>
                <a:cs typeface="Arial" panose="020B0604020202020204"/>
              </a:rPr>
              <a:t>Managed</a:t>
            </a:r>
            <a:r>
              <a:rPr sz="1550" b="1" spc="55" dirty="0">
                <a:latin typeface="Arial" panose="020B0604020202020204"/>
                <a:cs typeface="Arial" panose="020B0604020202020204"/>
              </a:rPr>
              <a:t> </a:t>
            </a:r>
            <a:r>
              <a:rPr sz="1550" b="1" spc="-10" dirty="0">
                <a:latin typeface="Arial" panose="020B0604020202020204"/>
                <a:cs typeface="Arial" panose="020B0604020202020204"/>
              </a:rPr>
              <a:t>Services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48800" y="5667375"/>
            <a:ext cx="371475" cy="333375"/>
          </a:xfrm>
          <a:custGeom>
            <a:avLst/>
            <a:gdLst/>
            <a:ahLst/>
            <a:cxnLst/>
            <a:rect l="l" t="t" r="r" b="b"/>
            <a:pathLst>
              <a:path w="371475" h="333375">
                <a:moveTo>
                  <a:pt x="244855" y="0"/>
                </a:moveTo>
                <a:lnTo>
                  <a:pt x="183642" y="4229"/>
                </a:lnTo>
                <a:lnTo>
                  <a:pt x="130175" y="16383"/>
                </a:lnTo>
                <a:lnTo>
                  <a:pt x="85090" y="35674"/>
                </a:lnTo>
                <a:lnTo>
                  <a:pt x="48895" y="61328"/>
                </a:lnTo>
                <a:lnTo>
                  <a:pt x="22351" y="92544"/>
                </a:lnTo>
                <a:lnTo>
                  <a:pt x="5842" y="128536"/>
                </a:lnTo>
                <a:lnTo>
                  <a:pt x="0" y="168528"/>
                </a:lnTo>
                <a:lnTo>
                  <a:pt x="4318" y="205168"/>
                </a:lnTo>
                <a:lnTo>
                  <a:pt x="36829" y="266814"/>
                </a:lnTo>
                <a:lnTo>
                  <a:pt x="98551" y="309727"/>
                </a:lnTo>
                <a:lnTo>
                  <a:pt x="138556" y="323113"/>
                </a:lnTo>
                <a:lnTo>
                  <a:pt x="183006" y="330771"/>
                </a:lnTo>
                <a:lnTo>
                  <a:pt x="232028" y="333222"/>
                </a:lnTo>
                <a:lnTo>
                  <a:pt x="275844" y="331368"/>
                </a:lnTo>
                <a:lnTo>
                  <a:pt x="314578" y="326796"/>
                </a:lnTo>
                <a:lnTo>
                  <a:pt x="346709" y="320954"/>
                </a:lnTo>
                <a:lnTo>
                  <a:pt x="370967" y="315290"/>
                </a:lnTo>
                <a:lnTo>
                  <a:pt x="370967" y="158356"/>
                </a:lnTo>
                <a:lnTo>
                  <a:pt x="221996" y="158356"/>
                </a:lnTo>
                <a:lnTo>
                  <a:pt x="221996" y="192265"/>
                </a:lnTo>
                <a:lnTo>
                  <a:pt x="313944" y="192265"/>
                </a:lnTo>
                <a:lnTo>
                  <a:pt x="313944" y="289648"/>
                </a:lnTo>
                <a:lnTo>
                  <a:pt x="301498" y="293065"/>
                </a:lnTo>
                <a:lnTo>
                  <a:pt x="284352" y="295833"/>
                </a:lnTo>
                <a:lnTo>
                  <a:pt x="262508" y="297688"/>
                </a:lnTo>
                <a:lnTo>
                  <a:pt x="236093" y="298361"/>
                </a:lnTo>
                <a:lnTo>
                  <a:pt x="177546" y="292608"/>
                </a:lnTo>
                <a:lnTo>
                  <a:pt x="129285" y="275844"/>
                </a:lnTo>
                <a:lnTo>
                  <a:pt x="92709" y="248767"/>
                </a:lnTo>
                <a:lnTo>
                  <a:pt x="69723" y="212128"/>
                </a:lnTo>
                <a:lnTo>
                  <a:pt x="61722" y="166611"/>
                </a:lnTo>
                <a:lnTo>
                  <a:pt x="67564" y="128473"/>
                </a:lnTo>
                <a:lnTo>
                  <a:pt x="111378" y="70281"/>
                </a:lnTo>
                <a:lnTo>
                  <a:pt x="147447" y="51193"/>
                </a:lnTo>
                <a:lnTo>
                  <a:pt x="191897" y="39395"/>
                </a:lnTo>
                <a:lnTo>
                  <a:pt x="243458" y="35344"/>
                </a:lnTo>
                <a:lnTo>
                  <a:pt x="274954" y="36449"/>
                </a:lnTo>
                <a:lnTo>
                  <a:pt x="301498" y="39458"/>
                </a:lnTo>
                <a:lnTo>
                  <a:pt x="324103" y="43929"/>
                </a:lnTo>
                <a:lnTo>
                  <a:pt x="343407" y="49390"/>
                </a:lnTo>
                <a:lnTo>
                  <a:pt x="357504" y="14998"/>
                </a:lnTo>
                <a:lnTo>
                  <a:pt x="339090" y="9791"/>
                </a:lnTo>
                <a:lnTo>
                  <a:pt x="313563" y="4953"/>
                </a:lnTo>
                <a:lnTo>
                  <a:pt x="281813" y="1384"/>
                </a:lnTo>
                <a:lnTo>
                  <a:pt x="2448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867900" y="5762625"/>
            <a:ext cx="514350" cy="228600"/>
          </a:xfrm>
          <a:custGeom>
            <a:avLst/>
            <a:gdLst/>
            <a:ahLst/>
            <a:cxnLst/>
            <a:rect l="l" t="t" r="r" b="b"/>
            <a:pathLst>
              <a:path w="514350" h="228600">
                <a:moveTo>
                  <a:pt x="261620" y="0"/>
                </a:moveTo>
                <a:lnTo>
                  <a:pt x="212471" y="0"/>
                </a:lnTo>
                <a:lnTo>
                  <a:pt x="164338" y="63080"/>
                </a:lnTo>
                <a:lnTo>
                  <a:pt x="146177" y="87541"/>
                </a:lnTo>
                <a:lnTo>
                  <a:pt x="137922" y="98983"/>
                </a:lnTo>
                <a:lnTo>
                  <a:pt x="130556" y="110210"/>
                </a:lnTo>
                <a:lnTo>
                  <a:pt x="129540" y="110210"/>
                </a:lnTo>
                <a:lnTo>
                  <a:pt x="105537" y="75514"/>
                </a:lnTo>
                <a:lnTo>
                  <a:pt x="49149" y="0"/>
                </a:lnTo>
                <a:lnTo>
                  <a:pt x="0" y="0"/>
                </a:lnTo>
                <a:lnTo>
                  <a:pt x="105664" y="131559"/>
                </a:lnTo>
                <a:lnTo>
                  <a:pt x="105664" y="228536"/>
                </a:lnTo>
                <a:lnTo>
                  <a:pt x="149352" y="228536"/>
                </a:lnTo>
                <a:lnTo>
                  <a:pt x="149352" y="131229"/>
                </a:lnTo>
                <a:lnTo>
                  <a:pt x="261620" y="0"/>
                </a:lnTo>
                <a:close/>
              </a:path>
              <a:path w="514350" h="228600">
                <a:moveTo>
                  <a:pt x="514223" y="228536"/>
                </a:moveTo>
                <a:lnTo>
                  <a:pt x="478282" y="156629"/>
                </a:lnTo>
                <a:lnTo>
                  <a:pt x="466852" y="133604"/>
                </a:lnTo>
                <a:lnTo>
                  <a:pt x="423418" y="46697"/>
                </a:lnTo>
                <a:lnTo>
                  <a:pt x="423418" y="133604"/>
                </a:lnTo>
                <a:lnTo>
                  <a:pt x="322580" y="133604"/>
                </a:lnTo>
                <a:lnTo>
                  <a:pt x="355346" y="67475"/>
                </a:lnTo>
                <a:lnTo>
                  <a:pt x="360045" y="57061"/>
                </a:lnTo>
                <a:lnTo>
                  <a:pt x="364350" y="46697"/>
                </a:lnTo>
                <a:lnTo>
                  <a:pt x="368427" y="36347"/>
                </a:lnTo>
                <a:lnTo>
                  <a:pt x="372237" y="26111"/>
                </a:lnTo>
                <a:lnTo>
                  <a:pt x="373253" y="26111"/>
                </a:lnTo>
                <a:lnTo>
                  <a:pt x="390652" y="67818"/>
                </a:lnTo>
                <a:lnTo>
                  <a:pt x="423418" y="133604"/>
                </a:lnTo>
                <a:lnTo>
                  <a:pt x="423418" y="46697"/>
                </a:lnTo>
                <a:lnTo>
                  <a:pt x="413131" y="26111"/>
                </a:lnTo>
                <a:lnTo>
                  <a:pt x="400050" y="0"/>
                </a:lnTo>
                <a:lnTo>
                  <a:pt x="347980" y="0"/>
                </a:lnTo>
                <a:lnTo>
                  <a:pt x="234315" y="228536"/>
                </a:lnTo>
                <a:lnTo>
                  <a:pt x="279019" y="228536"/>
                </a:lnTo>
                <a:lnTo>
                  <a:pt x="313690" y="156629"/>
                </a:lnTo>
                <a:lnTo>
                  <a:pt x="432308" y="156629"/>
                </a:lnTo>
                <a:lnTo>
                  <a:pt x="468122" y="228536"/>
                </a:lnTo>
                <a:lnTo>
                  <a:pt x="514223" y="228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9875" y="5762625"/>
            <a:ext cx="247650" cy="22860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0744200" y="5667375"/>
            <a:ext cx="790575" cy="333375"/>
            <a:chOff x="10744200" y="5667375"/>
            <a:chExt cx="790575" cy="333375"/>
          </a:xfrm>
        </p:grpSpPr>
        <p:sp>
          <p:nvSpPr>
            <p:cNvPr id="14" name="object 14"/>
            <p:cNvSpPr/>
            <p:nvPr/>
          </p:nvSpPr>
          <p:spPr>
            <a:xfrm>
              <a:off x="10744200" y="5667374"/>
              <a:ext cx="571500" cy="333375"/>
            </a:xfrm>
            <a:custGeom>
              <a:avLst/>
              <a:gdLst/>
              <a:ahLst/>
              <a:cxnLst/>
              <a:rect l="l" t="t" r="r" b="b"/>
              <a:pathLst>
                <a:path w="571500" h="333375">
                  <a:moveTo>
                    <a:pt x="277622" y="239864"/>
                  </a:moveTo>
                  <a:lnTo>
                    <a:pt x="248158" y="182587"/>
                  </a:lnTo>
                  <a:lnTo>
                    <a:pt x="211582" y="162102"/>
                  </a:lnTo>
                  <a:lnTo>
                    <a:pt x="160528" y="145072"/>
                  </a:lnTo>
                  <a:lnTo>
                    <a:pt x="119634" y="132308"/>
                  </a:lnTo>
                  <a:lnTo>
                    <a:pt x="91313" y="118795"/>
                  </a:lnTo>
                  <a:lnTo>
                    <a:pt x="74676" y="102857"/>
                  </a:lnTo>
                  <a:lnTo>
                    <a:pt x="69342" y="82829"/>
                  </a:lnTo>
                  <a:lnTo>
                    <a:pt x="74041" y="65989"/>
                  </a:lnTo>
                  <a:lnTo>
                    <a:pt x="89154" y="50393"/>
                  </a:lnTo>
                  <a:lnTo>
                    <a:pt x="115824" y="38925"/>
                  </a:lnTo>
                  <a:lnTo>
                    <a:pt x="155829" y="34467"/>
                  </a:lnTo>
                  <a:lnTo>
                    <a:pt x="184785" y="36055"/>
                  </a:lnTo>
                  <a:lnTo>
                    <a:pt x="209296" y="39979"/>
                  </a:lnTo>
                  <a:lnTo>
                    <a:pt x="228727" y="44970"/>
                  </a:lnTo>
                  <a:lnTo>
                    <a:pt x="242824" y="49784"/>
                  </a:lnTo>
                  <a:lnTo>
                    <a:pt x="259207" y="15786"/>
                  </a:lnTo>
                  <a:lnTo>
                    <a:pt x="241300" y="9880"/>
                  </a:lnTo>
                  <a:lnTo>
                    <a:pt x="218440" y="4838"/>
                  </a:lnTo>
                  <a:lnTo>
                    <a:pt x="190627" y="1320"/>
                  </a:lnTo>
                  <a:lnTo>
                    <a:pt x="157861" y="0"/>
                  </a:lnTo>
                  <a:lnTo>
                    <a:pt x="97028" y="6616"/>
                  </a:lnTo>
                  <a:lnTo>
                    <a:pt x="50165" y="24942"/>
                  </a:lnTo>
                  <a:lnTo>
                    <a:pt x="20066" y="52705"/>
                  </a:lnTo>
                  <a:lnTo>
                    <a:pt x="9525" y="87604"/>
                  </a:lnTo>
                  <a:lnTo>
                    <a:pt x="17907" y="118465"/>
                  </a:lnTo>
                  <a:lnTo>
                    <a:pt x="41910" y="143395"/>
                  </a:lnTo>
                  <a:lnTo>
                    <a:pt x="80137" y="163296"/>
                  </a:lnTo>
                  <a:lnTo>
                    <a:pt x="130556" y="179070"/>
                  </a:lnTo>
                  <a:lnTo>
                    <a:pt x="170180" y="191922"/>
                  </a:lnTo>
                  <a:lnTo>
                    <a:pt x="196977" y="206133"/>
                  </a:lnTo>
                  <a:lnTo>
                    <a:pt x="212217" y="222846"/>
                  </a:lnTo>
                  <a:lnTo>
                    <a:pt x="217043" y="243230"/>
                  </a:lnTo>
                  <a:lnTo>
                    <a:pt x="210566" y="265569"/>
                  </a:lnTo>
                  <a:lnTo>
                    <a:pt x="191770" y="282981"/>
                  </a:lnTo>
                  <a:lnTo>
                    <a:pt x="161544" y="294271"/>
                  </a:lnTo>
                  <a:lnTo>
                    <a:pt x="121031" y="298297"/>
                  </a:lnTo>
                  <a:lnTo>
                    <a:pt x="91059" y="296621"/>
                  </a:lnTo>
                  <a:lnTo>
                    <a:pt x="62611" y="292087"/>
                  </a:lnTo>
                  <a:lnTo>
                    <a:pt x="36957" y="285381"/>
                  </a:lnTo>
                  <a:lnTo>
                    <a:pt x="14986" y="277241"/>
                  </a:lnTo>
                  <a:lnTo>
                    <a:pt x="0" y="312166"/>
                  </a:lnTo>
                  <a:lnTo>
                    <a:pt x="22479" y="320230"/>
                  </a:lnTo>
                  <a:lnTo>
                    <a:pt x="51181" y="326758"/>
                  </a:lnTo>
                  <a:lnTo>
                    <a:pt x="83566" y="331152"/>
                  </a:lnTo>
                  <a:lnTo>
                    <a:pt x="117094" y="332752"/>
                  </a:lnTo>
                  <a:lnTo>
                    <a:pt x="187833" y="325234"/>
                  </a:lnTo>
                  <a:lnTo>
                    <a:pt x="237871" y="304990"/>
                  </a:lnTo>
                  <a:lnTo>
                    <a:pt x="267716" y="275399"/>
                  </a:lnTo>
                  <a:lnTo>
                    <a:pt x="277622" y="239864"/>
                  </a:lnTo>
                  <a:close/>
                </a:path>
                <a:path w="571500" h="333375">
                  <a:moveTo>
                    <a:pt x="571373" y="95656"/>
                  </a:moveTo>
                  <a:lnTo>
                    <a:pt x="522859" y="95656"/>
                  </a:lnTo>
                  <a:lnTo>
                    <a:pt x="475361" y="159791"/>
                  </a:lnTo>
                  <a:lnTo>
                    <a:pt x="457327" y="184658"/>
                  </a:lnTo>
                  <a:lnTo>
                    <a:pt x="449326" y="196291"/>
                  </a:lnTo>
                  <a:lnTo>
                    <a:pt x="441960" y="207708"/>
                  </a:lnTo>
                  <a:lnTo>
                    <a:pt x="441071" y="207708"/>
                  </a:lnTo>
                  <a:lnTo>
                    <a:pt x="417322" y="172427"/>
                  </a:lnTo>
                  <a:lnTo>
                    <a:pt x="361696" y="95656"/>
                  </a:lnTo>
                  <a:lnTo>
                    <a:pt x="313182" y="95656"/>
                  </a:lnTo>
                  <a:lnTo>
                    <a:pt x="417576" y="229412"/>
                  </a:lnTo>
                  <a:lnTo>
                    <a:pt x="417576" y="328002"/>
                  </a:lnTo>
                  <a:lnTo>
                    <a:pt x="460629" y="328002"/>
                  </a:lnTo>
                  <a:lnTo>
                    <a:pt x="460629" y="229069"/>
                  </a:lnTo>
                  <a:lnTo>
                    <a:pt x="571373" y="95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34750" y="5762625"/>
              <a:ext cx="200025" cy="238125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326707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276346" y="4298696"/>
            <a:ext cx="7872730" cy="5549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altLang="en-US" sz="3500" b="1" spc="-1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Expense Tracker </a:t>
            </a:r>
            <a:r>
              <a:rPr sz="3500" b="1" spc="-1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System</a:t>
            </a:r>
            <a:endParaRPr sz="35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8490" y="5730240"/>
            <a:ext cx="1759585" cy="2698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200" spc="-105" dirty="0">
                <a:latin typeface="Arial MT"/>
                <a:cs typeface="Arial MT"/>
              </a:rPr>
              <a:t>27 February</a:t>
            </a:r>
            <a:r>
              <a:rPr sz="1200" spc="-105" dirty="0">
                <a:latin typeface="Arial MT"/>
                <a:cs typeface="Arial MT"/>
              </a:rPr>
              <a:t> </a:t>
            </a:r>
            <a:r>
              <a:rPr lang="en-IN" altLang="en-US" sz="1200" spc="-105" dirty="0">
                <a:latin typeface="Arial MT"/>
                <a:cs typeface="Arial MT"/>
              </a:rPr>
              <a:t>2026</a:t>
            </a:r>
            <a:endParaRPr lang="en-IN" altLang="en-US" sz="1200" spc="-105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618490" y="1306131"/>
            <a:ext cx="3508375" cy="7734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3010"/>
              </a:lnSpc>
              <a:spcBef>
                <a:spcPts val="65"/>
              </a:spcBef>
            </a:pPr>
            <a:r>
              <a:rPr sz="24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Enterprise</a:t>
            </a:r>
            <a:r>
              <a:rPr sz="2400" spc="-8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Innovation. </a:t>
            </a:r>
            <a:r>
              <a:rPr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Powered</a:t>
            </a:r>
            <a:r>
              <a:rPr sz="24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400" spc="-8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A3FF"/>
                </a:solidFill>
                <a:latin typeface="Arial" panose="020B0604020202020204"/>
                <a:cs typeface="Arial" panose="020B0604020202020204"/>
              </a:rPr>
              <a:t>Knowledge</a:t>
            </a:r>
            <a:r>
              <a:rPr sz="24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76700" y="1905000"/>
            <a:ext cx="504825" cy="47625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254000" y="6551039"/>
            <a:ext cx="5995288" cy="1403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Copyright</a:t>
            </a:r>
            <a:r>
              <a:rPr spc="10" dirty="0"/>
              <a:t> </a:t>
            </a:r>
            <a:r>
              <a:rPr dirty="0"/>
              <a:t>202</a:t>
            </a:r>
            <a:r>
              <a:rPr lang="en-IN" dirty="0"/>
              <a:t>6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document</a:t>
            </a:r>
            <a:r>
              <a:rPr spc="25" dirty="0"/>
              <a:t> </a:t>
            </a:r>
            <a:r>
              <a:rPr spc="-10" dirty="0"/>
              <a:t>contains</a:t>
            </a:r>
            <a:r>
              <a:rPr spc="-50" dirty="0"/>
              <a:t> </a:t>
            </a:r>
            <a:r>
              <a:rPr spc="-10"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proprietary</a:t>
            </a:r>
            <a:r>
              <a:rPr spc="-5" dirty="0"/>
              <a:t> </a:t>
            </a:r>
            <a:r>
              <a:rPr spc="-10" dirty="0"/>
              <a:t>information.</a:t>
            </a:r>
            <a:endParaRPr spc="-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65231" y="258209"/>
            <a:ext cx="10166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75"/>
              </a:lnSpc>
            </a:pP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DELETE </a:t>
            </a:r>
            <a:r>
              <a:rPr sz="8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REPLACE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48260">
              <a:lnSpc>
                <a:spcPts val="930"/>
              </a:lnSpc>
            </a:pP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WITHCUSTOMER’S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800" b="1" spc="-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LOGOIN</a:t>
            </a:r>
            <a:r>
              <a:rPr sz="8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SLIDEMASTER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24600" y="47625"/>
            <a:ext cx="5867400" cy="2238375"/>
          </a:xfrm>
          <a:custGeom>
            <a:avLst/>
            <a:gdLst/>
            <a:ahLst/>
            <a:cxnLst/>
            <a:rect l="l" t="t" r="r" b="b"/>
            <a:pathLst>
              <a:path w="5867400" h="2238375">
                <a:moveTo>
                  <a:pt x="5867400" y="0"/>
                </a:moveTo>
                <a:lnTo>
                  <a:pt x="0" y="0"/>
                </a:lnTo>
                <a:lnTo>
                  <a:pt x="0" y="2238375"/>
                </a:lnTo>
                <a:lnTo>
                  <a:pt x="5867400" y="2238375"/>
                </a:lnTo>
                <a:lnTo>
                  <a:pt x="5867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6869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Copyright</a:t>
            </a:r>
            <a:r>
              <a:rPr spc="15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5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document</a:t>
            </a:r>
            <a:r>
              <a:rPr spc="35" dirty="0"/>
              <a:t> </a:t>
            </a:r>
            <a:r>
              <a:rPr dirty="0"/>
              <a:t>contains</a:t>
            </a:r>
            <a:r>
              <a:rPr spc="-65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proprietary information.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313372" y="1572894"/>
            <a:ext cx="11539220" cy="17335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60"/>
              </a:spcBef>
            </a:pPr>
            <a:r>
              <a:rPr lang="en-IN" altLang="en-US" sz="2750" dirty="0">
                <a:solidFill>
                  <a:srgbClr val="232323"/>
                </a:solidFill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750" dirty="0">
                <a:solidFill>
                  <a:srgbClr val="232323"/>
                </a:solidFill>
                <a:latin typeface="Times New Roman" panose="02020603050405020304"/>
                <a:cs typeface="Times New Roman" panose="02020603050405020304"/>
              </a:rPr>
              <a:t>GyanSys</a:t>
            </a:r>
            <a:r>
              <a:rPr lang="en-IN" altLang="en-US" sz="2750" dirty="0">
                <a:solidFill>
                  <a:srgbClr val="23232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lang="en-IN" altLang="en-US" sz="2750" dirty="0">
                <a:solidFill>
                  <a:srgbClr val="232323"/>
                </a:solidFill>
                <a:latin typeface="Times New Roman" panose="02020603050405020304"/>
                <a:cs typeface="Times New Roman" panose="02020603050405020304"/>
              </a:rPr>
              <a:t> e</a:t>
            </a:r>
            <a:r>
              <a:rPr lang="en-US" altLang="en-GB" sz="2750">
                <a:latin typeface="Times New Roman" panose="02020603050405020304"/>
                <a:cs typeface="Times New Roman" panose="02020603050405020304"/>
              </a:rPr>
              <a:t>mployees in the company submit reimbursement claims (travel, food, equipment, etc.), but the current process is handled via email and Excel.</a:t>
            </a:r>
            <a:r>
              <a:rPr lang="en-IN" altLang="en-US" sz="2750">
                <a:latin typeface="Times New Roman" panose="02020603050405020304"/>
                <a:cs typeface="Times New Roman" panose="02020603050405020304"/>
              </a:rPr>
              <a:t> Build a centralized digital system to address reimbursement claims with a Multi-Level Approval System.</a:t>
            </a:r>
            <a:endParaRPr lang="en-IN" altLang="en-US" sz="27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65231" y="258209"/>
            <a:ext cx="10166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75"/>
              </a:lnSpc>
            </a:pP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DELETE </a:t>
            </a:r>
            <a:r>
              <a:rPr sz="8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REPLACE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48260">
              <a:lnSpc>
                <a:spcPts val="930"/>
              </a:lnSpc>
            </a:pP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WITHCUSTOMER’S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800" b="1" spc="-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LOGOIN</a:t>
            </a:r>
            <a:r>
              <a:rPr sz="8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SLIDEMASTER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24600" y="47625"/>
            <a:ext cx="5867400" cy="2238375"/>
          </a:xfrm>
          <a:custGeom>
            <a:avLst/>
            <a:gdLst/>
            <a:ahLst/>
            <a:cxnLst/>
            <a:rect l="l" t="t" r="r" b="b"/>
            <a:pathLst>
              <a:path w="5867400" h="2238375">
                <a:moveTo>
                  <a:pt x="5867400" y="0"/>
                </a:moveTo>
                <a:lnTo>
                  <a:pt x="0" y="0"/>
                </a:lnTo>
                <a:lnTo>
                  <a:pt x="0" y="2238375"/>
                </a:lnTo>
                <a:lnTo>
                  <a:pt x="5867400" y="2238375"/>
                </a:lnTo>
                <a:lnTo>
                  <a:pt x="5867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6869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70" dirty="0"/>
              <a:t> </a:t>
            </a:r>
            <a:r>
              <a:rPr spc="-10" dirty="0"/>
              <a:t>Statement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Copyright</a:t>
            </a:r>
            <a:r>
              <a:rPr spc="15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5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document</a:t>
            </a:r>
            <a:r>
              <a:rPr spc="35" dirty="0"/>
              <a:t> </a:t>
            </a:r>
            <a:r>
              <a:rPr dirty="0"/>
              <a:t>contains</a:t>
            </a:r>
            <a:r>
              <a:rPr spc="-65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proprietary information.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313372" y="1197355"/>
            <a:ext cx="11262995" cy="39420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65"/>
              </a:spcBef>
              <a:tabLst>
                <a:tab pos="7346315" algn="l"/>
              </a:tabLst>
            </a:pPr>
            <a:r>
              <a:rPr lang="en-US" altLang="en-GB" sz="2750">
                <a:latin typeface="Times New Roman" panose="02020603050405020304"/>
                <a:cs typeface="Times New Roman" panose="02020603050405020304"/>
              </a:rPr>
              <a:t>Employees in the company submit reimbursement claims (travel, food, equipment, etc.), but the current process is handled via email and Excel. This leads to:</a:t>
            </a:r>
            <a:endParaRPr lang="en-US" altLang="en-GB" sz="275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2000"/>
              </a:lnSpc>
              <a:spcBef>
                <a:spcPts val="65"/>
              </a:spcBef>
              <a:tabLst>
                <a:tab pos="7346315" algn="l"/>
              </a:tabLst>
            </a:pPr>
            <a:endParaRPr lang="en-US" altLang="en-GB" sz="275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2000"/>
              </a:lnSpc>
              <a:spcBef>
                <a:spcPts val="65"/>
              </a:spcBef>
              <a:tabLst>
                <a:tab pos="7346315" algn="l"/>
              </a:tabLst>
            </a:pPr>
            <a:r>
              <a:rPr lang="en-US" altLang="en-GB" sz="2750">
                <a:latin typeface="Times New Roman" panose="02020603050405020304"/>
                <a:cs typeface="Times New Roman" panose="02020603050405020304"/>
              </a:rPr>
              <a:t>· Lost requests</a:t>
            </a:r>
            <a:endParaRPr lang="en-US" altLang="en-GB" sz="275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2000"/>
              </a:lnSpc>
              <a:spcBef>
                <a:spcPts val="65"/>
              </a:spcBef>
              <a:tabLst>
                <a:tab pos="7346315" algn="l"/>
              </a:tabLst>
            </a:pPr>
            <a:r>
              <a:rPr lang="en-US" altLang="en-GB" sz="2750">
                <a:latin typeface="Times New Roman" panose="02020603050405020304"/>
                <a:cs typeface="Times New Roman" panose="02020603050405020304"/>
              </a:rPr>
              <a:t>· Duplicate claims</a:t>
            </a:r>
            <a:endParaRPr lang="en-US" altLang="en-GB" sz="275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2000"/>
              </a:lnSpc>
              <a:spcBef>
                <a:spcPts val="65"/>
              </a:spcBef>
              <a:tabLst>
                <a:tab pos="7346315" algn="l"/>
              </a:tabLst>
            </a:pPr>
            <a:r>
              <a:rPr lang="en-US" altLang="en-GB" sz="2750">
                <a:latin typeface="Times New Roman" panose="02020603050405020304"/>
                <a:cs typeface="Times New Roman" panose="02020603050405020304"/>
              </a:rPr>
              <a:t>· No approval tracking</a:t>
            </a:r>
            <a:endParaRPr lang="en-US" altLang="en-GB" sz="275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2000"/>
              </a:lnSpc>
              <a:spcBef>
                <a:spcPts val="65"/>
              </a:spcBef>
              <a:tabLst>
                <a:tab pos="7346315" algn="l"/>
              </a:tabLst>
            </a:pPr>
            <a:r>
              <a:rPr lang="en-US" altLang="en-GB" sz="2750">
                <a:latin typeface="Times New Roman" panose="02020603050405020304"/>
                <a:cs typeface="Times New Roman" panose="02020603050405020304"/>
              </a:rPr>
              <a:t>· No audit trail</a:t>
            </a:r>
            <a:endParaRPr lang="en-US" altLang="en-GB" sz="275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2000"/>
              </a:lnSpc>
              <a:spcBef>
                <a:spcPts val="65"/>
              </a:spcBef>
              <a:tabLst>
                <a:tab pos="7346315" algn="l"/>
              </a:tabLst>
            </a:pPr>
            <a:r>
              <a:rPr lang="en-US" altLang="en-GB" sz="2750">
                <a:latin typeface="Times New Roman" panose="02020603050405020304"/>
                <a:cs typeface="Times New Roman" panose="02020603050405020304"/>
              </a:rPr>
              <a:t>· Poor reporting visibility</a:t>
            </a:r>
            <a:endParaRPr lang="en-US" altLang="en-GB" sz="27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917" y="238761"/>
            <a:ext cx="5855017" cy="607695"/>
          </a:xfrm>
        </p:spPr>
        <p:txBody>
          <a:bodyPr/>
          <a:p>
            <a:r>
              <a:rPr lang="en-IN" altLang="en-GB"/>
              <a:t>Proposed Solution</a:t>
            </a:r>
            <a:endParaRPr lang="en-IN" altLang="en-GB"/>
          </a:p>
        </p:txBody>
      </p:sp>
      <p:pic>
        <p:nvPicPr>
          <p:cNvPr id="4" name="Picture 3" descr="ChatGPT Image Feb 27, 2026, 04_01_3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90600"/>
            <a:ext cx="9848215" cy="5708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65231" y="258209"/>
            <a:ext cx="10166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75"/>
              </a:lnSpc>
            </a:pP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DELETE </a:t>
            </a:r>
            <a:r>
              <a:rPr sz="8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REPLACE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48260">
              <a:lnSpc>
                <a:spcPts val="930"/>
              </a:lnSpc>
            </a:pP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WITHCUSTOMER’S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800" b="1" spc="-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LOGOIN</a:t>
            </a:r>
            <a:r>
              <a:rPr sz="8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SLIDEMASTER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24600" y="47625"/>
            <a:ext cx="5867400" cy="2238375"/>
          </a:xfrm>
          <a:custGeom>
            <a:avLst/>
            <a:gdLst/>
            <a:ahLst/>
            <a:cxnLst/>
            <a:rect l="l" t="t" r="r" b="b"/>
            <a:pathLst>
              <a:path w="5867400" h="2238375">
                <a:moveTo>
                  <a:pt x="5867400" y="0"/>
                </a:moveTo>
                <a:lnTo>
                  <a:pt x="0" y="0"/>
                </a:lnTo>
                <a:lnTo>
                  <a:pt x="0" y="2238375"/>
                </a:lnTo>
                <a:lnTo>
                  <a:pt x="5867400" y="2238375"/>
                </a:lnTo>
                <a:lnTo>
                  <a:pt x="5867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787" y="19367"/>
            <a:ext cx="3621404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Database</a:t>
            </a:r>
            <a:r>
              <a:rPr spc="114" dirty="0"/>
              <a:t> </a:t>
            </a:r>
            <a:r>
              <a:rPr spc="-10" dirty="0"/>
              <a:t>Design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07010" y="647700"/>
            <a:ext cx="4647565" cy="481647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065" marR="5080" indent="0">
              <a:lnSpc>
                <a:spcPts val="2550"/>
              </a:lnSpc>
              <a:spcBef>
                <a:spcPts val="40"/>
              </a:spcBef>
              <a:buFont typeface="Wingdings" panose="05000000000000000000"/>
              <a:buNone/>
              <a:tabLst>
                <a:tab pos="355600" algn="l"/>
              </a:tabLst>
            </a:pPr>
            <a:endParaRPr lang="en-IN" altLang="en-US" sz="2250" b="0" dirty="0">
              <a:solidFill>
                <a:srgbClr val="232323"/>
              </a:solidFill>
              <a:latin typeface="Segoe UI" panose="020B0502040204020203"/>
              <a:cs typeface="Segoe UI" panose="020B0502040204020203"/>
            </a:endParaRPr>
          </a:p>
          <a:p>
            <a:pPr marL="12065" marR="5080" indent="0">
              <a:lnSpc>
                <a:spcPts val="2550"/>
              </a:lnSpc>
              <a:spcBef>
                <a:spcPts val="40"/>
              </a:spcBef>
              <a:buFont typeface="Wingdings" panose="05000000000000000000"/>
              <a:buNone/>
              <a:tabLst>
                <a:tab pos="355600" algn="l"/>
              </a:tabLst>
            </a:pPr>
            <a:r>
              <a:rPr lang="en-IN" altLang="en-US" sz="2250" b="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Total of 9 tables:</a:t>
            </a:r>
            <a:endParaRPr sz="2100" b="1" dirty="0">
              <a:solidFill>
                <a:srgbClr val="232323"/>
              </a:solidFill>
              <a:latin typeface="Segoe UI" panose="020B0502040204020203"/>
              <a:cs typeface="Segoe UI" panose="020B0502040204020203"/>
            </a:endParaRPr>
          </a:p>
          <a:p>
            <a:pPr marL="354330" marR="5080" indent="-342265">
              <a:lnSpc>
                <a:spcPts val="2550"/>
              </a:lnSpc>
              <a:spcBef>
                <a:spcPts val="40"/>
              </a:spcBef>
              <a:buFont typeface="Wingdings" panose="05000000000000000000"/>
              <a:buChar char=""/>
              <a:tabLst>
                <a:tab pos="355600" algn="l"/>
              </a:tabLst>
            </a:pPr>
            <a:endParaRPr sz="2100" b="1" dirty="0">
              <a:solidFill>
                <a:srgbClr val="232323"/>
              </a:solidFill>
              <a:latin typeface="Segoe UI" panose="020B0502040204020203"/>
              <a:cs typeface="Segoe UI" panose="020B0502040204020203"/>
            </a:endParaRPr>
          </a:p>
          <a:p>
            <a:pPr marL="354330" marR="5080" indent="-342265">
              <a:lnSpc>
                <a:spcPts val="2550"/>
              </a:lnSpc>
              <a:spcBef>
                <a:spcPts val="40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Employee</a:t>
            </a:r>
            <a:r>
              <a:rPr sz="2250" b="1" spc="-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Table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4965" indent="-342265">
              <a:lnSpc>
                <a:spcPts val="2445"/>
              </a:lnSpc>
              <a:buFont typeface="Wingdings" panose="05000000000000000000"/>
              <a:buChar char=""/>
              <a:tabLst>
                <a:tab pos="354965" algn="l"/>
              </a:tabLst>
            </a:pPr>
            <a:r>
              <a:rPr lang="en-IN" altLang="en-US" sz="2250" b="1" spc="-6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Drafts</a:t>
            </a:r>
            <a:r>
              <a:rPr sz="2250" b="1" spc="-6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Table</a:t>
            </a:r>
            <a:endParaRPr sz="2250" b="1" dirty="0">
              <a:solidFill>
                <a:srgbClr val="232323"/>
              </a:solidFill>
              <a:latin typeface="Segoe UI" panose="020B0502040204020203"/>
              <a:cs typeface="Segoe UI" panose="020B0502040204020203"/>
            </a:endParaRPr>
          </a:p>
          <a:p>
            <a:pPr marL="354965" indent="-342265">
              <a:lnSpc>
                <a:spcPts val="2445"/>
              </a:lnSpc>
              <a:buFont typeface="Wingdings" panose="05000000000000000000"/>
              <a:buChar char=""/>
              <a:tabLst>
                <a:tab pos="354965" algn="l"/>
              </a:tabLst>
            </a:pPr>
            <a:r>
              <a:rPr lang="en-IN" altLang="en-US" sz="2250" b="1" spc="-5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Requests</a:t>
            </a:r>
            <a:r>
              <a:rPr sz="2250" b="1" spc="-5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Table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4330" marR="517525" indent="-342265">
              <a:lnSpc>
                <a:spcPts val="2560"/>
              </a:lnSpc>
              <a:spcBef>
                <a:spcPts val="30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IN" altLang="en-US" sz="2250" b="1" spc="-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Approved Items</a:t>
            </a:r>
            <a:r>
              <a:rPr sz="2250" b="1" spc="-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Table</a:t>
            </a:r>
            <a:endParaRPr sz="2250" b="1" dirty="0">
              <a:solidFill>
                <a:srgbClr val="232323"/>
              </a:solidFill>
              <a:latin typeface="Segoe UI" panose="020B0502040204020203"/>
              <a:cs typeface="Segoe UI" panose="020B0502040204020203"/>
            </a:endParaRPr>
          </a:p>
          <a:p>
            <a:pPr marL="354330" marR="517525" indent="-342265">
              <a:lnSpc>
                <a:spcPts val="2560"/>
              </a:lnSpc>
              <a:spcBef>
                <a:spcPts val="30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IN" altLang="en-US"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Rejected Items Table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4965" indent="-342265">
              <a:lnSpc>
                <a:spcPts val="2435"/>
              </a:lnSpc>
              <a:buFont typeface="Wingdings" panose="05000000000000000000"/>
              <a:buChar char=""/>
              <a:tabLst>
                <a:tab pos="354965" algn="l"/>
              </a:tabLst>
            </a:pPr>
            <a:r>
              <a:rPr lang="en-IN" altLang="en-US" sz="2250" b="1" spc="-2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Expense Categories</a:t>
            </a:r>
            <a:r>
              <a:rPr sz="2250" b="1" spc="-2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Table</a:t>
            </a:r>
            <a:endParaRPr sz="2250" b="1" dirty="0">
              <a:solidFill>
                <a:srgbClr val="232323"/>
              </a:solidFill>
              <a:latin typeface="Segoe UI" panose="020B0502040204020203"/>
              <a:cs typeface="Segoe UI" panose="020B0502040204020203"/>
            </a:endParaRPr>
          </a:p>
          <a:p>
            <a:pPr marL="354965" indent="-342265">
              <a:lnSpc>
                <a:spcPts val="2435"/>
              </a:lnSpc>
              <a:buFont typeface="Wingdings" panose="05000000000000000000"/>
              <a:buChar char=""/>
              <a:tabLst>
                <a:tab pos="354965" algn="l"/>
              </a:tabLst>
            </a:pPr>
            <a:r>
              <a:rPr lang="en-IN" altLang="en-US" sz="2250" b="1" spc="-6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Finance Status</a:t>
            </a:r>
            <a:r>
              <a:rPr sz="2250" b="1" spc="-6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Table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4330" marR="417830" indent="-342265">
              <a:lnSpc>
                <a:spcPts val="2550"/>
              </a:lnSpc>
              <a:spcBef>
                <a:spcPts val="15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IN" altLang="en-US"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Status History </a:t>
            </a: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Table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5600" indent="-342900">
              <a:lnSpc>
                <a:spcPts val="239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Project</a:t>
            </a:r>
            <a:r>
              <a:rPr sz="2250" b="1" spc="-4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Table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12065" marR="174625" indent="0">
              <a:lnSpc>
                <a:spcPts val="2480"/>
              </a:lnSpc>
              <a:spcBef>
                <a:spcPts val="150"/>
              </a:spcBef>
              <a:buFont typeface="Wingdings" panose="05000000000000000000"/>
              <a:buNone/>
              <a:tabLst>
                <a:tab pos="355600" algn="l"/>
              </a:tabLst>
            </a:pPr>
            <a:endParaRPr sz="22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Copyright</a:t>
            </a:r>
            <a:r>
              <a:rPr spc="15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5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document</a:t>
            </a:r>
            <a:r>
              <a:rPr spc="35" dirty="0"/>
              <a:t> </a:t>
            </a:r>
            <a:r>
              <a:rPr dirty="0"/>
              <a:t>contains</a:t>
            </a:r>
            <a:r>
              <a:rPr spc="-65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proprietary information.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pic>
        <p:nvPicPr>
          <p:cNvPr id="10" name="Picture 9" descr="db_schema_expense_tracker_syst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520" y="106680"/>
            <a:ext cx="7708900" cy="6013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422" y="76201"/>
            <a:ext cx="5855017" cy="673100"/>
          </a:xfrm>
          <a:prstGeom prst="rect">
            <a:avLst/>
          </a:prstGeom>
        </p:spPr>
        <p:txBody>
          <a:bodyPr vert="horz" wrap="square" lIns="0" tIns="89154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n-IN" sz="3800"/>
              <a:t>API Design</a:t>
            </a:r>
            <a:endParaRPr lang="en-IN" sz="3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78865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Copyright</a:t>
            </a:r>
            <a:r>
              <a:rPr spc="10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document</a:t>
            </a:r>
            <a:r>
              <a:rPr spc="35" dirty="0"/>
              <a:t> </a:t>
            </a:r>
            <a:r>
              <a:rPr dirty="0"/>
              <a:t>contains</a:t>
            </a:r>
            <a:r>
              <a:rPr spc="-60" dirty="0"/>
              <a:t> </a:t>
            </a:r>
            <a:r>
              <a:rPr dirty="0"/>
              <a:t>confidential</a:t>
            </a:r>
            <a:r>
              <a:rPr spc="-2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proprietary</a:t>
            </a:r>
            <a:r>
              <a:rPr spc="-15" dirty="0"/>
              <a:t> </a:t>
            </a:r>
            <a:r>
              <a:rPr spc="-10" dirty="0"/>
              <a:t>information.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8" name="Text Box 7"/>
          <p:cNvSpPr txBox="1"/>
          <p:nvPr/>
        </p:nvSpPr>
        <p:spPr>
          <a:xfrm>
            <a:off x="381000" y="914400"/>
            <a:ext cx="11441430" cy="5162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 sz="2250"/>
              <a:t>API is categorized into 5 main types:</a:t>
            </a:r>
            <a:endParaRPr lang="en-IN" altLang="en-GB" sz="2250"/>
          </a:p>
          <a:p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IN" altLang="en-GB" sz="2250" b="1"/>
              <a:t>Auth</a:t>
            </a:r>
            <a:r>
              <a:rPr lang="en-IN" altLang="en-GB" sz="2250"/>
              <a:t> -- handles authentication.</a:t>
            </a: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IN" altLang="en-GB" sz="2250" b="1"/>
              <a:t>Admin and Employee</a:t>
            </a:r>
            <a:r>
              <a:rPr lang="en-IN" altLang="en-GB" sz="2250"/>
              <a:t> -- performs CRUD on employees by the admins</a:t>
            </a: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IN" altLang="en-GB" sz="2250" b="1"/>
              <a:t>Reports</a:t>
            </a:r>
            <a:r>
              <a:rPr lang="en-IN" altLang="en-GB" sz="2250"/>
              <a:t> -- generate analytic reports based on the approval history</a:t>
            </a: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IN" altLang="en-GB" sz="2250" b="1"/>
              <a:t>Finance</a:t>
            </a:r>
            <a:r>
              <a:rPr lang="en-IN" altLang="en-GB" sz="2250"/>
              <a:t> -- request approval / rejection by thefinance team</a:t>
            </a: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IN" altLang="en-GB" sz="2250" b="1"/>
              <a:t>Requests</a:t>
            </a:r>
            <a:r>
              <a:rPr lang="en-IN" altLang="en-GB" sz="2250"/>
              <a:t> -- creation of requests by the employees</a:t>
            </a: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endParaRPr lang="en-IN" altLang="en-GB" sz="225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IN" altLang="en-GB" sz="2250" b="1"/>
              <a:t>Categories</a:t>
            </a:r>
            <a:r>
              <a:rPr lang="en-IN" altLang="en-GB" sz="2250"/>
              <a:t> -- categorizing the data </a:t>
            </a:r>
            <a:endParaRPr lang="en-IN" altLang="en-GB" sz="2250"/>
          </a:p>
          <a:p>
            <a:endParaRPr lang="en-IN" altLang="en-GB"/>
          </a:p>
          <a:p>
            <a:endParaRPr lang="en-IN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399" y="183516"/>
            <a:ext cx="585406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User</a:t>
            </a:r>
            <a:r>
              <a:rPr spc="75" dirty="0"/>
              <a:t> </a:t>
            </a:r>
            <a:r>
              <a:rPr dirty="0"/>
              <a:t>Interface</a:t>
            </a:r>
            <a:r>
              <a:rPr spc="75" dirty="0"/>
              <a:t> </a:t>
            </a:r>
            <a:r>
              <a:rPr dirty="0"/>
              <a:t>–</a:t>
            </a:r>
            <a:r>
              <a:rPr spc="80" dirty="0"/>
              <a:t> </a:t>
            </a:r>
            <a:r>
              <a:rPr dirty="0"/>
              <a:t>Front-</a:t>
            </a:r>
            <a:r>
              <a:rPr spc="-25" dirty="0"/>
              <a:t>end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295400"/>
            <a:ext cx="11291570" cy="313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"/>
              <a:tabLst>
                <a:tab pos="354965" algn="l"/>
              </a:tabLst>
            </a:pPr>
            <a:r>
              <a:rPr sz="2250" b="1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Login</a:t>
            </a:r>
            <a:r>
              <a:rPr sz="2250" b="1" spc="-4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spc="-2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Page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355600" algn="l"/>
              </a:tabLst>
            </a:pP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Secure</a:t>
            </a:r>
            <a:r>
              <a:rPr sz="2250" spc="-4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login</a:t>
            </a:r>
            <a:r>
              <a:rPr sz="2250" spc="-6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2250" spc="-3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registration</a:t>
            </a:r>
            <a:r>
              <a:rPr sz="2250" spc="-6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options</a:t>
            </a:r>
            <a:r>
              <a:rPr sz="2250" spc="-4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for</a:t>
            </a:r>
            <a:r>
              <a:rPr sz="2250" spc="-2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spc="-1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users.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354965" algn="l"/>
              </a:tabLst>
            </a:pPr>
            <a:r>
              <a:rPr sz="2250" spc="-1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Role-</a:t>
            </a: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based</a:t>
            </a:r>
            <a:r>
              <a:rPr sz="2250" spc="-3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access</a:t>
            </a:r>
            <a:r>
              <a:rPr sz="2250" spc="-10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for</a:t>
            </a:r>
            <a:r>
              <a:rPr sz="2250" spc="-1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lang="en-IN" altLang="en-US" sz="2250" spc="-15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Employees</a:t>
            </a:r>
            <a:endParaRPr lang="en-IN" altLang="en-US" sz="2250" spc="-15" dirty="0">
              <a:solidFill>
                <a:srgbClr val="232323"/>
              </a:solidFill>
              <a:latin typeface="Segoe UI" panose="020B0502040204020203"/>
              <a:cs typeface="Segoe UI" panose="020B0502040204020203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354965" algn="l"/>
              </a:tabLst>
            </a:pPr>
            <a:endParaRPr sz="2250">
              <a:latin typeface="Segoe UI" panose="020B0502040204020203"/>
              <a:cs typeface="Segoe UI" panose="020B0502040204020203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IN" altLang="en-US" sz="2250" b="1" spc="-10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Dashboard</a:t>
            </a:r>
            <a:r>
              <a:rPr sz="2250" b="1" spc="-10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2250" b="1" spc="-2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Page</a:t>
            </a:r>
            <a:r>
              <a:rPr lang="en-IN" altLang="en-US" sz="2250" b="1" spc="-2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s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355600" algn="l"/>
              </a:tabLst>
            </a:pPr>
            <a:r>
              <a:rPr lang="en-IN" altLang="en-US" sz="225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Specific dashboard pages for showing the requests and approvals for each of the employee as per their role.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50" spc="-1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(Employee/</a:t>
            </a:r>
            <a:r>
              <a:rPr lang="en-IN" altLang="en-US" sz="2250" spc="-1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 Admin/ Finance/ Manager</a:t>
            </a:r>
            <a:r>
              <a:rPr sz="2250" spc="-10" dirty="0">
                <a:solidFill>
                  <a:srgbClr val="232323"/>
                </a:solidFill>
                <a:latin typeface="Segoe UI" panose="020B0502040204020203"/>
                <a:cs typeface="Segoe UI" panose="020B0502040204020203"/>
              </a:rPr>
              <a:t>).</a:t>
            </a:r>
            <a:endParaRPr sz="2250">
              <a:latin typeface="Segoe UI" panose="020B0502040204020203"/>
              <a:cs typeface="Segoe UI" panose="020B0502040204020203"/>
            </a:endParaRPr>
          </a:p>
          <a:p>
            <a:pPr marL="12700" indent="0">
              <a:lnSpc>
                <a:spcPct val="100000"/>
              </a:lnSpc>
              <a:spcBef>
                <a:spcPts val="5"/>
              </a:spcBef>
              <a:buFont typeface="Wingdings" panose="05000000000000000000" charset="0"/>
              <a:buNone/>
              <a:tabLst>
                <a:tab pos="354965" algn="l"/>
              </a:tabLst>
            </a:pPr>
            <a:endParaRPr sz="225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Copyright</a:t>
            </a:r>
            <a:r>
              <a:rPr spc="15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5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document</a:t>
            </a:r>
            <a:r>
              <a:rPr spc="35" dirty="0"/>
              <a:t> </a:t>
            </a:r>
            <a:r>
              <a:rPr dirty="0"/>
              <a:t>contains</a:t>
            </a:r>
            <a:r>
              <a:rPr spc="-65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proprietary information.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65231" y="258209"/>
            <a:ext cx="10166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75"/>
              </a:lnSpc>
            </a:pP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DELETE </a:t>
            </a:r>
            <a:r>
              <a:rPr sz="8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REPLACE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48260">
              <a:lnSpc>
                <a:spcPts val="930"/>
              </a:lnSpc>
            </a:pP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WITHCUSTOMER’S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800" b="1" spc="-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LOGOIN</a:t>
            </a:r>
            <a:r>
              <a:rPr sz="8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SLIDEMASTER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24600" y="47625"/>
            <a:ext cx="5867400" cy="2238375"/>
          </a:xfrm>
          <a:custGeom>
            <a:avLst/>
            <a:gdLst/>
            <a:ahLst/>
            <a:cxnLst/>
            <a:rect l="l" t="t" r="r" b="b"/>
            <a:pathLst>
              <a:path w="5867400" h="2238375">
                <a:moveTo>
                  <a:pt x="5867400" y="0"/>
                </a:moveTo>
                <a:lnTo>
                  <a:pt x="0" y="0"/>
                </a:lnTo>
                <a:lnTo>
                  <a:pt x="0" y="2238375"/>
                </a:lnTo>
                <a:lnTo>
                  <a:pt x="5867400" y="2238375"/>
                </a:lnTo>
                <a:lnTo>
                  <a:pt x="5867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6869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Copyright</a:t>
            </a:r>
            <a:r>
              <a:rPr spc="15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5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document</a:t>
            </a:r>
            <a:r>
              <a:rPr spc="35" dirty="0"/>
              <a:t> </a:t>
            </a:r>
            <a:r>
              <a:rPr dirty="0"/>
              <a:t>contains</a:t>
            </a:r>
            <a:r>
              <a:rPr spc="-65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proprietary information.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25120" y="1572894"/>
            <a:ext cx="10916285" cy="30283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60"/>
              </a:spcBef>
              <a:tabLst>
                <a:tab pos="2072005" algn="l"/>
              </a:tabLst>
            </a:pPr>
            <a:r>
              <a:rPr lang="en-US" altLang="en-GB" spc="-10" dirty="0"/>
              <a:t>The Expense Claim &amp; Approval Management System provides a secure, scalable, and efficient solution for managing employee reimbursement requests.By replacing manual processes with a centralized digital system, the application improves transparency, reduces errors, and ensures smooth claim processing.The system demonstrates modern web development practices and provides a strong foundation for future enhancements and enterprise deployment. </a:t>
            </a:r>
            <a:endParaRPr lang="en-US" altLang="en-GB"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65231" y="258209"/>
            <a:ext cx="10166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75"/>
              </a:lnSpc>
            </a:pP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DELETE </a:t>
            </a:r>
            <a:r>
              <a:rPr sz="8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REPLACE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48260">
              <a:lnSpc>
                <a:spcPts val="930"/>
              </a:lnSpc>
            </a:pPr>
            <a:r>
              <a:rPr sz="8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WITHCUSTOMER’S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800" b="1" spc="-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LOGOIN</a:t>
            </a:r>
            <a:r>
              <a:rPr sz="8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SLIDEMASTER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381750"/>
            <a:chOff x="0" y="0"/>
            <a:chExt cx="12192000" cy="63817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19550" y="38100"/>
              <a:ext cx="8172450" cy="63436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8100"/>
              <a:ext cx="6515100" cy="6343650"/>
            </a:xfrm>
            <a:custGeom>
              <a:avLst/>
              <a:gdLst/>
              <a:ahLst/>
              <a:cxnLst/>
              <a:rect l="l" t="t" r="r" b="b"/>
              <a:pathLst>
                <a:path w="6515100" h="6343650">
                  <a:moveTo>
                    <a:pt x="6515100" y="0"/>
                  </a:moveTo>
                  <a:lnTo>
                    <a:pt x="0" y="0"/>
                  </a:lnTo>
                  <a:lnTo>
                    <a:pt x="0" y="6343650"/>
                  </a:lnTo>
                  <a:lnTo>
                    <a:pt x="5212080" y="634365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47625"/>
            </a:xfrm>
            <a:custGeom>
              <a:avLst/>
              <a:gdLst/>
              <a:ahLst/>
              <a:cxnLst/>
              <a:rect l="l" t="t" r="r" b="b"/>
              <a:pathLst>
                <a:path w="12192000" h="47625">
                  <a:moveTo>
                    <a:pt x="12192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2192000" y="4762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latin typeface="Arial" panose="020B0604020202020204"/>
                <a:cs typeface="Arial" panose="020B0604020202020204"/>
              </a:rPr>
              <a:t>Thank</a:t>
            </a:r>
            <a:r>
              <a:rPr sz="24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You!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15"/>
              </a:spcBef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Copyright</a:t>
            </a:r>
            <a:r>
              <a:rPr spc="15" dirty="0"/>
              <a:t> </a:t>
            </a:r>
            <a:r>
              <a:rPr dirty="0"/>
              <a:t>2025</a:t>
            </a:r>
            <a:r>
              <a:rPr spc="-20" dirty="0"/>
              <a:t> </a:t>
            </a:r>
            <a:r>
              <a:rPr dirty="0"/>
              <a:t>|</a:t>
            </a:r>
            <a:r>
              <a:rPr spc="-45" dirty="0"/>
              <a:t> </a:t>
            </a:r>
            <a:r>
              <a:rPr dirty="0"/>
              <a:t>GyanSys</a:t>
            </a:r>
            <a:r>
              <a:rPr spc="-60" dirty="0"/>
              <a:t> </a:t>
            </a:r>
            <a:r>
              <a:rPr dirty="0"/>
              <a:t>|</a:t>
            </a:r>
            <a:r>
              <a:rPr spc="25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document</a:t>
            </a:r>
            <a:r>
              <a:rPr spc="35" dirty="0"/>
              <a:t> </a:t>
            </a:r>
            <a:r>
              <a:rPr dirty="0"/>
              <a:t>contains</a:t>
            </a:r>
            <a:r>
              <a:rPr spc="-65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proprietary information.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355600" y="3423856"/>
            <a:ext cx="1627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78787"/>
                </a:solidFill>
                <a:latin typeface="Arial MT"/>
                <a:cs typeface="Arial MT"/>
              </a:rPr>
              <a:t>Any</a:t>
            </a:r>
            <a:r>
              <a:rPr sz="1800" spc="-25" dirty="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878787"/>
                </a:solidFill>
                <a:latin typeface="Arial MT"/>
                <a:cs typeface="Arial MT"/>
              </a:rPr>
              <a:t>Questions?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3016</Words>
  <Application>WPS Presentation</Application>
  <PresentationFormat>On-screen Show (4:3)</PresentationFormat>
  <Paragraphs>132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Segoe UI</vt:lpstr>
      <vt:lpstr>Arial MT</vt:lpstr>
      <vt:lpstr>Arial</vt:lpstr>
      <vt:lpstr>Wingdings</vt:lpstr>
      <vt:lpstr>Wingdings</vt:lpstr>
      <vt:lpstr>Microsoft YaHei</vt:lpstr>
      <vt:lpstr>Arial Unicode MS</vt:lpstr>
      <vt:lpstr>Calibri</vt:lpstr>
      <vt:lpstr>Office Theme</vt:lpstr>
      <vt:lpstr>Enterprise Innovation. Powered by Knowledge.</vt:lpstr>
      <vt:lpstr>Introduction</vt:lpstr>
      <vt:lpstr>Problem Statement</vt:lpstr>
      <vt:lpstr>Proposed Solution</vt:lpstr>
      <vt:lpstr>Database Design</vt:lpstr>
      <vt:lpstr>API Design</vt:lpstr>
      <vt:lpstr>User Interface – Front-end</vt:lpstr>
      <vt:lpstr>Conclusion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Innovation. Powered by Knowledge.</dc:title>
  <dc:creator/>
  <cp:lastModifiedBy>Amd</cp:lastModifiedBy>
  <cp:revision>15</cp:revision>
  <dcterms:created xsi:type="dcterms:W3CDTF">2026-02-26T18:59:00Z</dcterms:created>
  <dcterms:modified xsi:type="dcterms:W3CDTF">2026-02-27T18:11:35Z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2025-03-07T03:30:00Z</vt:filetime>
  </property>
  <property fmtid="{D5CDD505-2E9C-101B-9397-08002B2CF9AE}" pid="3" name="LastSaved">
    <vt:filetime>2026-02-27T03:30:00Z</vt:filetime>
  </property>
  <property fmtid="{D5CDD505-2E9C-101B-9397-08002B2CF9AE}" pid="4" name="ICV">
    <vt:lpwstr>EF9FADED22F04549A9C114C1F72E851A_13</vt:lpwstr>
  </property>
  <property fmtid="{D5CDD505-2E9C-101B-9397-08002B2CF9AE}" pid="5" name="KSOProductBuildVer">
    <vt:lpwstr>2057-12.2.0.23197</vt:lpwstr>
  </property>
</Properties>
</file>